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Outfit Extra Bold"/>
      <p:regular r:id="rId15"/>
    </p:embeddedFont>
    <p:embeddedFont>
      <p:font typeface="Arimo"/>
      <p:regular r:id="rId16"/>
    </p:embeddedFont>
    <p:embeddedFont>
      <p:font typeface="Arimo"/>
      <p:regular r:id="rId17"/>
    </p:embeddedFont>
    <p:embeddedFont>
      <p:font typeface="Arimo"/>
      <p:regular r:id="rId18"/>
    </p:embeddedFont>
    <p:embeddedFont>
      <p:font typeface="Arim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4698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Bank Loan Dashboard Analysis: Key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047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analytical review of the bank’s loan portfolio reveals key performance indicators and risk factors.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531018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285661"/>
            <a:ext cx="2188964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by Mainak Gorai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3352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Portfolio Overview and Key Metrics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912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7306" y="33691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Loan Portfolio Size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859530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Total collection at 814.90M; funded loan amount 733M across 65.54K loans.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200203" y="32912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37319" y="33691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Interest and Risk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37319" y="3859530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Average interest rate is 12.03%, delinquency rate 10.8%, default rate 1.6%.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018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7306" y="5479733"/>
            <a:ext cx="28561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Collection Challenges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97015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1,020 defaulted loans and 7,106 delinquent clients highlight recovery issues.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7594"/>
            <a:ext cx="76088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Loan Distribution by Religion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13861" y="3089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Hindu Applicants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80209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Hold 75% of total loan amount, reflecting majority borrower segment.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88938" y="316968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4791" y="3293626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481304" y="3089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Muslim Applicants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481304" y="3580209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Account for 11%, indicating moderate participation in loan uptake.</a:t>
            </a:r>
            <a:endParaRPr lang="en-US" sz="1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74368" y="316968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30220" y="3293626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9481304" y="5085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Sikh Applicants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9481304" y="5576173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Receive 13% of loans, showing significant share within the portfolio.</a:t>
            </a:r>
            <a:endParaRPr lang="en-US" sz="1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274368" y="565511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430220" y="5779056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2313861" y="5085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Christian Applicants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793790" y="5576173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Minor share at 1%, representing minimal loan distribution.</a:t>
            </a:r>
            <a:endParaRPr lang="en-US" sz="17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788938" y="565511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944791" y="5779056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0407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Loan Disbursement Trends Over Time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048941" y="2961799"/>
            <a:ext cx="30480" cy="4063722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5" name="Shape 2"/>
          <p:cNvSpPr/>
          <p:nvPr/>
        </p:nvSpPr>
        <p:spPr>
          <a:xfrm>
            <a:off x="1273612" y="3201710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296179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8860" y="300430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183011" y="30396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FY 2017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183011" y="3530084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Disbursement was 4.17%, marking the start of growth phase.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273612" y="4586526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11" name="Shape 8"/>
          <p:cNvSpPr/>
          <p:nvPr/>
        </p:nvSpPr>
        <p:spPr>
          <a:xfrm>
            <a:off x="793790" y="43466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8860" y="43891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183011" y="44244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FY 2019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183011" y="4914900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Peak at 56.87%, signifying strong market expansion.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273612" y="5971342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16" name="Shape 13"/>
          <p:cNvSpPr/>
          <p:nvPr/>
        </p:nvSpPr>
        <p:spPr>
          <a:xfrm>
            <a:off x="793790" y="57314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8860" y="57739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183011" y="58092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FY 2020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183011" y="6299716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Declined sharply to 8.51%, reflecting market slowdown and uncertainty.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92428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Age Group and Borrowing Patterns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26–45 Years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Dominates loan disbursement, representing prime working-age borrowing.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18–25 &amp; 56–63 Years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Lower loan amounts indicate reduced borrowing in younger and older groups.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83950"/>
            <a:ext cx="113639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Loan Grade Composition and Risk Layering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32891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Grade B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75774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Largest share at 29.99%, reflecting moderate-risk borrower focus.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032891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1396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Grade C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1396" y="575774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20% of portfolio, supporting risk diversification strategy.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032891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4568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Grades D to 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4568" y="575774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Progressively smaller shares, limiting high-risk exposure (lowest is 1.43%).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660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Loan Status and Maturity Insights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323749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Active Loans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4040981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63% of loans are active with 36-month tenure dominant among outstanding.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4993600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5220414"/>
            <a:ext cx="30896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Delinquent &amp; Defaulted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5710833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Together constitute 12%, signaling manageable credit risk levels.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99339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Verification Status and Product Focus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Verification Gaps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16,921 loans marked unverified; 25,818 unknown, posing data risk.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35846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Product Group Distribution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Home loans dominate at ₹278.26 Cr; Services follow at ₹155.53 Cr.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2025-05-01T15:51:12Z</dcterms:created>
  <dcterms:modified xsi:type="dcterms:W3CDTF">2025-05-01T15:51:12Z</dcterms:modified>
</cp:coreProperties>
</file>